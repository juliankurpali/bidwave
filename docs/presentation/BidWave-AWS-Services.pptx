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122" d="100"/>
          <a:sy n="122" d="100"/>
        </p:scale>
        <p:origin x="39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82622"/>
                </a:solidFill>
                <a:latin typeface="Calibri"/>
              </a:rPr>
              <a:t>AWS services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0">
                <a:solidFill>
                  <a:srgbClr val="6B665C"/>
                </a:solidFill>
                <a:latin typeface="Calibri"/>
              </a:rPr>
              <a:t>From the course — then applied in BidWave, our live auction demo.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282622"/>
                </a:solidFill>
                <a:latin typeface="Calibri"/>
              </a:rPr>
              <a:t>We walk through the services with real examples from our project.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282622"/>
                </a:solidFill>
                <a:latin typeface="Calibri"/>
              </a:rPr>
              <a:t>At the end: how we structure the project and deploy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What we’ll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Services first. Project layout and deploy at the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Part 1 —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7"/>
            <a:ext cx="5212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IAM, S3, CloudFront, API Gateway, Lambda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SQS, DynamoDB, CloudWatch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Course-only: EC2, VPC &amp; security groups, ALB, RDS</a:t>
            </a:r>
          </a:p>
          <a:p>
            <a:pPr>
              <a:spcAft>
                <a:spcPts val="300"/>
              </a:spcAft>
            </a:pPr>
            <a:endParaRPr sz="14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For each one: what it is, how it works,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why it matters for us, and a code snippet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from our template when we use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Part 2 — Build &amp; deploy (end)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64207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How the project folders are organized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What our template file lists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How we deploy step by step</a:t>
            </a:r>
          </a:p>
          <a:p>
            <a:pPr>
              <a:spcAft>
                <a:spcPts val="300"/>
              </a:spcAft>
            </a:pPr>
            <a:endParaRPr sz="14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82622"/>
                </a:solidFill>
                <a:latin typeface="Calibri"/>
              </a:rPr>
              <a:t>Then the live BidWave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IAM —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IAM is how AWS decides who is allowed to do what.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covers people and also services (like a Lambda function).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attach permissions so each part of the system only gets the actions it needs — not full admin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We create a role for each Lambda. On that role we put policies — lists of allowed actions on specific resources.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When PlaceBid tries to talk to SQS or DynamoDB, AWS checks that role. If the action is not allowed, it is blocked.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In BidWave, PlaceBid is only allowed to send messages to our bid queue. It cannot change the high bid in DynamoDB.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SettleBid is the one with database write permission. That way a bug or mistake in PlaceBid cannot wipe the scoreboard.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PlaceBidFunction: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Policies: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- SQSSendMessagePolicy: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QueueName: !GetAtt BidQueue.QueueName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SettleBidFunction: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Policies: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- DynamoDBCrudPolicy: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TableName: !Ref LotsTable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- DynamoDBCrudPolicy: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TableName: !Ref BidHistoryTable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S3 — file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S3 is object storage: a place in AWS to keep files.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People usually store images, website files (HTML, CSS, JS), documents, and backups there.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is durable and relatively cheap, which is why it is the default place for static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create a bucket (like a folder), then upload objects (the files).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control who can read or write those files with bucket settings and policies.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In our setup the bucket stays private — visitors cannot open S3 and browse our files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BidWave’s frontend is static files. We need somewhere to keep them and update them when we change the UI.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S3 holds index.html, app.js, styles.css, and the rest.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CloudFront is what actually delivers those files to people (next slide).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 — UiBucket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UiBucket: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Type: AWS::S3::Bucket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Properties: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PublicAccessBlockConfiguration: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BlockPublicAcls: true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RestrictPublicBuckets: true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private bucket for frontend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CloudFront — website front door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CloudFront sits in front of your content and delivers it to users over HTTPS.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can cache files at locations closer to visitors, so the site often loads faster.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is the public URL people type or click — not the S3 bucket address.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Someone opens our website link. CloudFront receives the request.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fetches the file from our private S3 bucket (using Origin Access Control so only CloudFront may read the bucket), then returns it to the browser.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So CloudFront is the middleman: users talk to CloudFront; CloudFront talks to S3.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We want a normal HTTPS website without making the S3 bucket public.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CloudFront is that front door for BidWave. Our demo link is a CloudFront URL.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That keeps storage private while still letting anyone open the auction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 — UiDistribution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UiDistribution: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Type: AWS::CloudFront::Distribution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Properties: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DistributionConfig: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Enabled: true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DefaultRootObject: index.html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Origins: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- Id: UiS3Origin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  DomainName: !GetAtt UiBucket…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https://d2g2dhr1x8ml6l.cloudfront.net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API Gateway — the HTTP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API Gateway is the public HTTP entry for your backend.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Browsers call URLs like GET /lots or POST /bids. API Gateway receives those calls and forwards them to the right backend — for us, Lambda.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can require an API key and limit how fast clients may call, so the API is not wide open to spam.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define routes: path + method → which Lambda runs.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When a request arrives, API Gateway checks rules (for us, API key on POST /bids), then invokes that function and returns the response to the browser.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do not run your own web server just to expose HTTP.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The BidWave UI needs a real API: list lots, list bidders, place a bid.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API Gateway gives us those HTTPS endpoints and connects them to our Java Lambdas.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Writes (POST /bids) require an API key so strangers cannot flood the queue without the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 — PlaceBid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Events: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PlaceBid: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Type: Api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Properties: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Path: /bids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Method: POST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Auth: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ApiKeyRequired: true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GET /lots → ListLots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GET /lots/{id}/bids → ListLotBids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Lambda — run code when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Lambda runs your code without you managing a server that stays on 24/7.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AWS starts your function when an event happens (an API call, a message in a queue), runs it, then stops.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You mostly pay for the time it actually runs — when nobody bids, you are not paying for an idle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We package Java handlers in a jar. Each function has a handler class (for example PlaceBidHandler).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API Gateway or SQS triggers the function. It does its job — validate a bid, update DynamoDB — and exits.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If many requests arrive, AWS can run more copies. When traffic stops, it scales back 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Placing or settling a bid is a short job. That fits Lambda better than renting a server that sits idle between clicks.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We use several functions: PlaceBid (accept + enqueue), SettleBid (update the database), and read functions for lots and history.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That keeps cost low for a learning / demo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 — PlaceBidFunction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PlaceBidFunction: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Type: …Function   # Lambda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Properties: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FunctionName: !Sub '${ProjectName}-PlaceBid'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Handler: com.bidwave.api.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PlaceBidHandler::handleRequest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CodeUri: ../target/bidwave-1.0.0.jar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Policies: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- SQSSendMessagePolicy: …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Runtime java17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SQS — message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SQS is a queue: one part of the app drops a message, another part reads it later.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separates “we accepted your request” from “we finished the hard work.”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Messages wait safely even if the worker is busy or briefly failing.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PlaceBid validates the bid and sends a message to our FIFO queue (ordered, with a group per lot).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AWS then wakes SettleBid when messages are ready. SettleBid processes them and updates DynamoDB.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If a message fails too many times, it goes to a Dead-Letter Queue (DLQ) so we can inspect it instead of looping forever.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During a demo many people can click Place bid at once. Without a queue, all of that pressure hits the database at the same time.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With SQS we accept quickly, then settle carefully in order per 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 — BidQueue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BidQueue: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Type: AWS::SQS::Queue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Properties: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QueueName: !Sub '${ProjectName}-bids.fifo'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FifoQueue: true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RedrivePolicy: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deadLetterTargetArn: !GetAtt BidDLQ.Arn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maxReceiveCount: 3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SettleBid Events: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Type: SQS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Queue: !GetAtt BidQueue.Arn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DynamoDB —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DynamoDB is a managed NoSQL database. You store items and look them up by keys — not with heavy SQL joins.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AWS runs the database servers for you. You focus on the data model and access patterns.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is built for fast reads and writes when your queries are simple and keyed.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We have two tables. Lots: one item per auction lot, keyed by lotId — title, highBid, highBidder, endsAt.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BidHistory: every bid attempt, keyed by lotId + bidId, with a status (ACCEPTED, REJECTED_LOW, and so on).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SettleBid updates the high bid only if the new amount is higher and the auction is still open (conditional update).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An auction needs a live scoreboard and an audit trail of attempts — including rejected bids.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Our access pattern is “get this lot” and “list bids for this lot,” which fits DynamoDB keys well.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That is why we use DynamoDB here instead of a full SQL database for this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 — LotsTable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LotsTable: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Type: AWS::DynamoDB::Table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Properties: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TableName: !Sub '${ProjectName}-Lots'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BillingMode: PAY_PER_REQUEST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KeySchema: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- AttributeName: lotId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    KeyType: HASH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BidHistoryTable: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KeySchema: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- lotId (HASH)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- bidId (RANGE)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CloudWatch —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 BidWave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CloudWatch is how you watch what your system is doing: logs (text from your code), metrics (numbers like errors), and alarms (alerts when something looks wrong).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Without it you only see the UI and guess whether the backend worked.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282622"/>
                </a:solidFill>
                <a:latin typeface="Calibri"/>
              </a:rPr>
              <a:t>Our Lambdas write structured logs (</a:t>
            </a:r>
            <a:r>
              <a:rPr sz="1200" b="0" dirty="0" err="1">
                <a:solidFill>
                  <a:srgbClr val="282622"/>
                </a:solidFill>
                <a:latin typeface="Calibri"/>
              </a:rPr>
              <a:t>lotId</a:t>
            </a:r>
            <a:r>
              <a:rPr sz="1200" b="0" dirty="0">
                <a:solidFill>
                  <a:srgbClr val="282622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282622"/>
                </a:solidFill>
                <a:latin typeface="Calibri"/>
              </a:rPr>
              <a:t>bidId</a:t>
            </a:r>
            <a:r>
              <a:rPr sz="1200" b="0" dirty="0">
                <a:solidFill>
                  <a:srgbClr val="282622"/>
                </a:solidFill>
                <a:latin typeface="Calibri"/>
              </a:rPr>
              <a:t>, outcome).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282622"/>
                </a:solidFill>
                <a:latin typeface="Calibri"/>
              </a:rPr>
              <a:t>We also have alarms for function errors and for messages piling up on the </a:t>
            </a:r>
            <a:r>
              <a:rPr sz="1200" b="0">
                <a:solidFill>
                  <a:srgbClr val="282622"/>
                </a:solidFill>
                <a:latin typeface="Calibri"/>
              </a:rPr>
              <a:t>DLQ.</a:t>
            </a:r>
            <a:endParaRPr sz="1200" b="0" dirty="0">
              <a:solidFill>
                <a:srgbClr val="28262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282622"/>
                </a:solidFill>
                <a:latin typeface="Calibri"/>
              </a:rPr>
              <a:t>For a presentation and for learning, we need proof: the bid was accepted or rejected, and errors are visible.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282622"/>
                </a:solidFill>
                <a:latin typeface="Calibri"/>
              </a:rPr>
              <a:t>CloudWatch is the standard place for that on AWS.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Globals: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Function: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   Tracing: Active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Alarms: PlaceBid / SettleBid errors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Alarm: DLQ depth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Dashboard: bidwave-ops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Log groups: /aws/lambda/bidwave-*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EC2 — virtual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8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Learned in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EC2 is a virtual computer in the cloud — a server you rent.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It stays on until you stop it. You install your app and it keeps running.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You pay while it exists, even if nobody is using it right 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You start an instance (pick a size), put it in a VPC, and attach a security group.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Simple connection example: users → load balancer → EC2 (your app) → database.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The security group on EC2 often allows traffic only from the load balancer — not from the whole internet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 learned EC2 in the course for always-on apps.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BidWave’s bid path uses Lambda instead, because a bid is a short job — we do not need a server sitting idle between clicks.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 would use EC2 when something must stay awake all day (long process, custom server).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Simple EC2 connection example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Users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→  ALB  (HTTPS :443)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     →  EC2 app  (:8080)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           →  Database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EC2 security group: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allow :8080 only from ALB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EC2 = the always-on computer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running your application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BidWave bids use Lambda instead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Course knowledge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Always-on virtual machine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Not used for PlaceBid / SettleBid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VPC &amp; security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8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Learned in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A VPC is your private network inside AWS — like your own street where you put servers and databases.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A security group is a firewall on a resource. It says who is allowed to talk to this thing, and on which port.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Example: “only my web server may connect to my database on port 3306.” Everyone else is blocked.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You place resources in the VPC (your private network).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You attach a security group to each one with allow rules.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Example: web server SG allows HTTPS (443) from the internet. Database SG allows MySQL (3306) only from the web server’s security group — not from the whole internet.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This is core networking from the course. You need it when you run EC2 or RDS.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BidWave’s main auction path is serverless, so we do not draw a custom VPC story for every bid — but if we had an app server + SQL database, security groups would allow only that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Not in always-on BidWave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Easy example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Internet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→  Web server (EC2)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      SG: allow 443 from world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Web server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→  Database (RDS)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      SG: allow 3306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      ONLY from web server SG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Database is NOT open to everyone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Only the app may talk to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ALB — load 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8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Learned in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An Application Load Balancer is one public door in front of one or more servers.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It checks that backends are healthy and spreads requests across them.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If one EC2 dies, traffic can go to the others.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Simple connection example: Internet → ALB (port 443) → EC2 app servers (port 8080).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The ALB’s security group allows HTTPS from the world. Each EC2 security group allows 8080 only from the ALB — not from random visitors.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So users never talk to the servers directly; they only talk to the load balancer.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 learned ALB in the course for multi-server setups.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This BidWave demo has no EC2 fleet to balance — Lambda scales the API — so we do not run an ALB today.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If we had several EC2 app servers, ALB would be the single HTTPS entry in front of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Simple ALB connection example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Internet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→  ALB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      SG: allow 443 from world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ALB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→  EC2 #1  (:8080)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→  EC2 #2  (:8080)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EC2 SGs: allow 8080 ONLY from ALB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One address, many servers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Not used in BidWave today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(no EC2 fleet to balance)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Course knowledge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One door, many servers behind it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E8E4DC"/>
                </a:solidFill>
                <a:latin typeface="Consolas"/>
              </a:rPr>
              <a:t># Not needed without an EC2 fleet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RDS — SQL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92608"/>
            <a:ext cx="2103120" cy="347472"/>
          </a:xfrm>
          <a:prstGeom prst="roundRect">
            <a:avLst/>
          </a:prstGeom>
          <a:solidFill>
            <a:srgbClr val="8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32918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Learned in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RDS is a managed SQL database (MySQL, PostgreSQL, and similar).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You get tables, rows, SQL queries, and joins. AWS handles a lot of patching and backups.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It usually sits in a VPC, not open to the whole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does it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Your app (for example on EC2) connects with SQL.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Important: we put a security group on the database that allows traffic only from the app’s security group (for example port 3306 for MySQL).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So the two components can talk, but random people on the internet cannot hit the database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Why we use it (BidWave / course)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I learned RDS in the course so I can choose SQL vs DynamoDB on purpose.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82622"/>
                </a:solidFill>
                <a:latin typeface="Calibri"/>
              </a:rPr>
              <a:t>BidWave uses DynamoDB (simple keys). If we used RDS instead, we would still wire a security group between the app and the database to allow that communication safely.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097280"/>
            <a:ext cx="5943600" cy="502920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188720"/>
            <a:ext cx="5577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Not in template.yaml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444752"/>
            <a:ext cx="561441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App ↔ database example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EC2 (app)     SG-app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|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|  port 3306 allowed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|  because SG-db says: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|  allow from SG-app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  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RDS (MySQL)   SG-db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Security group = the permission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to talk between these two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BidWave demo uses DynamoDB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8E4DC"/>
                </a:solidFill>
                <a:latin typeface="Consolas"/>
              </a:rPr>
              <a:t># (same idea: control who can access)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Part 2 — How we build and deploy BidWave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The services are declared in a template file in our repo.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7"/>
            <a:ext cx="1088135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We do not create every table, queue, and function by clicking around in the console forever.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We describe them in a text file: infra/template.yaml. That file lists the AWS pieces and how they connect.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When we deploy, AWS creates or updates all of those pieces as one group (our stack is named bidwave).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The Java code is the behavior. The template is the wiring. The frontend folder is what people see via CloudFront + S3.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What does the template hold?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infra/template.yaml — resources and how they connect.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is inside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49377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A list of resources we need for BidWave: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DynamoDB tables (Lots, BidHistory)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SQS queues (main bid queue + DLQ)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Lambda functions and their IAM policies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API Gateway routes (/lots, /bids, …)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S3 bucket for website files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CloudFront distribution (the HTTPS URL)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• CloudWatch alarms and dashboard</a:t>
            </a:r>
          </a:p>
          <a:p>
            <a:pPr>
              <a:spcAft>
                <a:spcPts val="300"/>
              </a:spcAft>
            </a:pPr>
            <a:endParaRPr sz="12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also says which event wakes which function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(POST /bids → PlaceBid, queue message → SettleBid).</a:t>
            </a:r>
          </a:p>
          <a:p>
            <a:pPr>
              <a:spcAft>
                <a:spcPts val="300"/>
              </a:spcAft>
            </a:pPr>
            <a:endParaRPr sz="12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It does not contain the Java business logic.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82622"/>
                </a:solidFill>
                <a:latin typeface="Calibri"/>
              </a:rPr>
              <a:t>That is in the jar. The template only wires AWS.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493776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5303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infra/template.yaml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1536192"/>
            <a:ext cx="534009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Resources: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LotsTable: …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BidQueue: …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PlaceBidFunction: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  Policies: …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  Events: …   # POST /bids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SettleBidFunction: …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UiBucket: …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UiDistribution: …  # CloudFront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# + API, alarms,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How the project is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Three parts: app code, template, website.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669280" cy="4846320"/>
          </a:xfrm>
          <a:prstGeom prst="roundRect">
            <a:avLst/>
          </a:prstGeom>
          <a:solidFill>
            <a:srgbClr val="2B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325880"/>
            <a:ext cx="5303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A296"/>
                </a:solidFill>
                <a:latin typeface="Consolas"/>
              </a:rPr>
              <a:t>repo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81912"/>
            <a:ext cx="5340096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bidwave/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src/main/java/     Java handlers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                   (PlaceBid, SettleBid…)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infra/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  template.yaml    lists AWS resources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  deploy-config    stack name + region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frontend/          website → S3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                   (served via CloudFront)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4DC"/>
                </a:solidFill>
                <a:latin typeface="Consolas"/>
              </a:rPr>
              <a:t>  scripts/           seed lots, smoke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How to talk about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18488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82622"/>
                </a:solidFill>
                <a:latin typeface="Calibri"/>
              </a:rPr>
              <a:t>Java = what happens when a bid arrives.</a:t>
            </a:r>
          </a:p>
          <a:p>
            <a:pPr>
              <a:spcAft>
                <a:spcPts val="300"/>
              </a:spcAft>
            </a:pPr>
            <a:endParaRPr sz="13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82622"/>
                </a:solidFill>
                <a:latin typeface="Calibri"/>
              </a:rPr>
              <a:t>template.yaml = which AWS pieces exist and how they connect (including IAM).</a:t>
            </a:r>
          </a:p>
          <a:p>
            <a:pPr>
              <a:spcAft>
                <a:spcPts val="300"/>
              </a:spcAft>
            </a:pPr>
            <a:endParaRPr sz="13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82622"/>
                </a:solidFill>
                <a:latin typeface="Calibri"/>
              </a:rPr>
              <a:t>frontend/ = what people see; we upload it to S3; CloudFront is the link they open.</a:t>
            </a:r>
          </a:p>
          <a:p>
            <a:pPr>
              <a:spcAft>
                <a:spcPts val="300"/>
              </a:spcAft>
            </a:pPr>
            <a:endParaRPr sz="13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82622"/>
                </a:solidFill>
                <a:latin typeface="Calibri"/>
              </a:rPr>
              <a:t>scripts/ = helpers to seed lots and test the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How we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From laptop to a working BidWave.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5272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62"/>
                </a:solidFill>
                <a:latin typeface="Calibri"/>
              </a:rPr>
              <a:t>1. Build the 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82622"/>
                </a:solidFill>
                <a:latin typeface="Calibri"/>
              </a:rPr>
              <a:t>Compile the Java project so PlaceBid, SettleBid, and the other handlers are in one jar the Lambdas can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62"/>
                </a:solidFill>
                <a:latin typeface="Calibri"/>
              </a:rPr>
              <a:t>2. Deploy the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82622"/>
                </a:solidFill>
                <a:latin typeface="Calibri"/>
              </a:rPr>
              <a:t>Deploy infra/template.yaml. AWS creates or updates the bidwave stack — tables, queues, functions, API, S3, CloudFront,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7216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62"/>
                </a:solidFill>
                <a:latin typeface="Calibri"/>
              </a:rPr>
              <a:t>3. Seed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82622"/>
                </a:solidFill>
                <a:latin typeface="Calibri"/>
              </a:rPr>
              <a:t>Run a script to insert sample lots (mug, hoodie, laptop) into the Lots table so the UI has something to show.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956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62"/>
                </a:solidFill>
                <a:latin typeface="Calibri"/>
              </a:rPr>
              <a:t>4. Publish the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82622"/>
                </a:solidFill>
                <a:latin typeface="Calibri"/>
              </a:rPr>
              <a:t>Sync the frontend folder to the S3 bucket. People open the CloudFront URL to load the latest UI.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Services from Part 1 are the pieces of BidWave.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What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7"/>
            <a:ext cx="1088135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S3 stores the website; CloudFront is the HTTPS front door people open.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API Gateway + Lambda + SQS + DynamoDB handle bids. IAM keeps each function limited. CloudWatch shows what happened.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EC2, VPC, ALB, and RDS are course topics I can explain — we did not need them for this auction path.</a:t>
            </a:r>
          </a:p>
          <a:p>
            <a:pPr>
              <a:spcAft>
                <a:spcPts val="300"/>
              </a:spcAft>
            </a:pPr>
            <a:endParaRPr sz="15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82622"/>
                </a:solidFill>
                <a:latin typeface="Calibri"/>
              </a:rPr>
              <a:t>Next: live demo — place a bid and watch the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82622"/>
                </a:solidFill>
                <a:latin typeface="Calibri"/>
              </a:rPr>
              <a:t>Next: live BidWave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65C"/>
                </a:solidFill>
                <a:latin typeface="Calibri"/>
              </a:rPr>
              <a:t>Place a bid and watch the backend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6B62"/>
                </a:solidFill>
                <a:latin typeface="Calibri"/>
              </a:rP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08813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282622"/>
                </a:solidFill>
                <a:latin typeface="Calibri"/>
              </a:rPr>
              <a:t>Open the CloudFront site → pick a lot → place a bid.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82622"/>
                </a:solidFill>
                <a:latin typeface="Calibri"/>
              </a:rPr>
              <a:t>Follow: API Gateway → PlaceBid → SQS → SettleBid → DynamoDB.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82622"/>
                </a:solidFill>
                <a:latin typeface="Calibri"/>
              </a:rPr>
              <a:t>Answer questions on any service — used or course-only.</a:t>
            </a:r>
          </a:p>
          <a:p>
            <a:pPr>
              <a:spcAft>
                <a:spcPts val="300"/>
              </a:spcAft>
            </a:pPr>
            <a:endParaRPr sz="1600" b="0">
              <a:solidFill>
                <a:srgbClr val="282622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82622"/>
                </a:solidFill>
                <a:latin typeface="Calibri"/>
              </a:rPr>
              <a:t>https://d2g2dhr1x8ml6l.cloudfront.net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65C"/>
                </a:solidFill>
                <a:latin typeface="Calibri"/>
              </a:rPr>
              <a:t>AWS services  ·  BidWave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665C"/>
                </a:solidFill>
                <a:latin typeface="Calibri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3859</Words>
  <Application>Microsoft Macintosh PowerPoint</Application>
  <PresentationFormat>Widescreen</PresentationFormat>
  <Paragraphs>459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Julian Kurpali</cp:lastModifiedBy>
  <cp:revision>2</cp:revision>
  <dcterms:created xsi:type="dcterms:W3CDTF">2013-01-27T09:14:16Z</dcterms:created>
  <dcterms:modified xsi:type="dcterms:W3CDTF">2026-10-19T12:16:55Z</dcterms:modified>
  <cp:category/>
</cp:coreProperties>
</file>